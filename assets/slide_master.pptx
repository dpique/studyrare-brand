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28016" cy="128016"/>
          </a:xfrm>
          <a:prstGeom prst="ellipse">
            <a:avLst/>
          </a:prstGeom>
          <a:solidFill>
            <a:srgbClr val="8893E5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" y="594360"/>
            <a:ext cx="201168" cy="201168"/>
          </a:xfrm>
          <a:prstGeom prst="ellipse">
            <a:avLst/>
          </a:prstGeom>
          <a:solidFill>
            <a:srgbClr val="8893E5"/>
          </a:solidFill>
          <a:ln/>
        </p:spPr>
      </p:sp>
      <p:sp>
        <p:nvSpPr>
          <p:cNvPr id="4" name="Shape 2"/>
          <p:cNvSpPr/>
          <p:nvPr/>
        </p:nvSpPr>
        <p:spPr>
          <a:xfrm>
            <a:off x="1920240" y="274320"/>
            <a:ext cx="146304" cy="146304"/>
          </a:xfrm>
          <a:prstGeom prst="ellipse">
            <a:avLst/>
          </a:prstGeom>
          <a:solidFill>
            <a:srgbClr val="8893E5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0" y="777240"/>
            <a:ext cx="237744" cy="237744"/>
          </a:xfrm>
          <a:prstGeom prst="ellipse">
            <a:avLst/>
          </a:prstGeom>
          <a:solidFill>
            <a:srgbClr val="8893E5"/>
          </a:solidFill>
          <a:ln/>
        </p:spPr>
      </p:sp>
      <p:sp>
        <p:nvSpPr>
          <p:cNvPr id="6" name="Shape 4"/>
          <p:cNvSpPr/>
          <p:nvPr/>
        </p:nvSpPr>
        <p:spPr>
          <a:xfrm>
            <a:off x="3840480" y="411480"/>
            <a:ext cx="128016" cy="128016"/>
          </a:xfrm>
          <a:prstGeom prst="ellipse">
            <a:avLst/>
          </a:prstGeom>
          <a:solidFill>
            <a:srgbClr val="8893E5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0" y="731520"/>
            <a:ext cx="256032" cy="256032"/>
          </a:xfrm>
          <a:prstGeom prst="ellipse">
            <a:avLst/>
          </a:prstGeom>
          <a:solidFill>
            <a:srgbClr val="8893E5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0" y="274320"/>
            <a:ext cx="164592" cy="164592"/>
          </a:xfrm>
          <a:prstGeom prst="ellipse">
            <a:avLst/>
          </a:prstGeom>
          <a:solidFill>
            <a:srgbClr val="8893E5"/>
          </a:solidFill>
          <a:ln/>
        </p:spPr>
      </p:sp>
      <p:sp>
        <p:nvSpPr>
          <p:cNvPr id="9" name="Shape 7"/>
          <p:cNvSpPr/>
          <p:nvPr/>
        </p:nvSpPr>
        <p:spPr>
          <a:xfrm>
            <a:off x="7223760" y="777240"/>
            <a:ext cx="109728" cy="109728"/>
          </a:xfrm>
          <a:prstGeom prst="ellipse">
            <a:avLst/>
          </a:prstGeom>
          <a:solidFill>
            <a:srgbClr val="8893E5"/>
          </a:solidFill>
          <a:ln/>
        </p:spPr>
      </p:sp>
      <p:sp>
        <p:nvSpPr>
          <p:cNvPr id="10" name="Shape 8"/>
          <p:cNvSpPr/>
          <p:nvPr/>
        </p:nvSpPr>
        <p:spPr>
          <a:xfrm>
            <a:off x="8001000" y="365760"/>
            <a:ext cx="237744" cy="237744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4343400"/>
            <a:ext cx="164592" cy="164592"/>
          </a:xfrm>
          <a:prstGeom prst="ellipse">
            <a:avLst/>
          </a:prstGeom>
          <a:solidFill>
            <a:srgbClr val="8893E5"/>
          </a:solidFill>
          <a:ln/>
        </p:spPr>
      </p:sp>
      <p:sp>
        <p:nvSpPr>
          <p:cNvPr id="12" name="Shape 10"/>
          <p:cNvSpPr/>
          <p:nvPr/>
        </p:nvSpPr>
        <p:spPr>
          <a:xfrm>
            <a:off x="2240280" y="4572000"/>
            <a:ext cx="128016" cy="128016"/>
          </a:xfrm>
          <a:prstGeom prst="ellipse">
            <a:avLst/>
          </a:prstGeom>
          <a:solidFill>
            <a:srgbClr val="8893E5"/>
          </a:solidFill>
          <a:ln/>
        </p:spPr>
      </p:sp>
      <p:sp>
        <p:nvSpPr>
          <p:cNvPr id="13" name="Shape 11"/>
          <p:cNvSpPr/>
          <p:nvPr/>
        </p:nvSpPr>
        <p:spPr>
          <a:xfrm>
            <a:off x="3703320" y="4434840"/>
            <a:ext cx="201168" cy="201168"/>
          </a:xfrm>
          <a:prstGeom prst="ellipse">
            <a:avLst/>
          </a:prstGeom>
          <a:solidFill>
            <a:srgbClr val="8893E5"/>
          </a:solidFill>
          <a:ln/>
        </p:spPr>
      </p:sp>
      <p:sp>
        <p:nvSpPr>
          <p:cNvPr id="14" name="Shape 12"/>
          <p:cNvSpPr/>
          <p:nvPr/>
        </p:nvSpPr>
        <p:spPr>
          <a:xfrm>
            <a:off x="5440680" y="4617720"/>
            <a:ext cx="146304" cy="146304"/>
          </a:xfrm>
          <a:prstGeom prst="ellipse">
            <a:avLst/>
          </a:prstGeom>
          <a:solidFill>
            <a:srgbClr val="8893E5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0" y="4389120"/>
            <a:ext cx="164592" cy="164592"/>
          </a:xfrm>
          <a:prstGeom prst="ellipse">
            <a:avLst/>
          </a:prstGeom>
          <a:solidFill>
            <a:srgbClr val="8893E5"/>
          </a:solidFill>
          <a:ln/>
        </p:spPr>
      </p:sp>
      <p:sp>
        <p:nvSpPr>
          <p:cNvPr id="16" name="Shape 14"/>
          <p:cNvSpPr/>
          <p:nvPr/>
        </p:nvSpPr>
        <p:spPr>
          <a:xfrm>
            <a:off x="8321040" y="4572000"/>
            <a:ext cx="128016" cy="128016"/>
          </a:xfrm>
          <a:prstGeom prst="ellipse">
            <a:avLst/>
          </a:prstGeom>
          <a:solidFill>
            <a:srgbClr val="8893E5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17830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MCAD deficiency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685800" y="2606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E8A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Fatty acid oxidation · beta-oxidation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85800" y="4617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StudyRare</a:t>
            </a:r>
            <a:endParaRPr lang="en-US" sz="1400" dirty="0"/>
          </a:p>
        </p:txBody>
      </p:sp>
      <p:pic>
        <p:nvPicPr>
          <p:cNvPr id="20" name="Image 0" descr="/home/claude/studyrare-brand/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425196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274320"/>
            <a:ext cx="109728" cy="109728"/>
          </a:xfrm>
          <a:prstGeom prst="ellipse">
            <a:avLst/>
          </a:prstGeom>
          <a:solidFill>
            <a:srgbClr val="8893E5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75320" y="457200"/>
            <a:ext cx="146304" cy="146304"/>
          </a:xfrm>
          <a:prstGeom prst="ellipse">
            <a:avLst/>
          </a:prstGeom>
          <a:solidFill>
            <a:srgbClr val="8893E5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549640" y="228600"/>
            <a:ext cx="91440" cy="91440"/>
          </a:xfrm>
          <a:prstGeom prst="ellipse">
            <a:avLst/>
          </a:prstGeom>
          <a:solidFill>
            <a:srgbClr val="8893E5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092440" y="777240"/>
            <a:ext cx="109728" cy="109728"/>
          </a:xfrm>
          <a:prstGeom prst="ellipse">
            <a:avLst/>
          </a:prstGeom>
          <a:solidFill>
            <a:srgbClr val="8893E5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641080" y="822960"/>
            <a:ext cx="182880" cy="182880"/>
          </a:xfrm>
          <a:prstGeom prst="ellipse">
            <a:avLst/>
          </a:prstGeom>
          <a:solidFill>
            <a:srgbClr val="E8A838">
              <a:alpha val="20000"/>
            </a:srgbClr>
          </a:solidFill>
          <a:ln/>
        </p:spPr>
      </p:sp>
      <p:pic>
        <p:nvPicPr>
          <p:cNvPr id="7" name="Image 0" descr="/home/claude/studyrare-brand/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92608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2926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StudyRare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0" y="29260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D5F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5.G · Workbook p. 95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85800" y="8686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035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MCAD deficiency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685800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5562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Fatty acid oxidation · beta-oxidation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85800" y="1920240"/>
            <a:ext cx="685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E8A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 </a:t>
            </a:r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D3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common FAOD on newborn screening</a:t>
            </a:r>
            <a:endParaRPr lang="en-US" sz="1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1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E8A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 </a:t>
            </a:r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D3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Hypoketotic hypoglycemia with fasting stress</a:t>
            </a:r>
            <a:endParaRPr lang="en-US" sz="1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1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E8A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 </a:t>
            </a:r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D3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Acute presentation: lethargy, vomiting, seizure in a previously well infant</a:t>
            </a:r>
            <a:endParaRPr lang="en-US" sz="1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1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E8A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 </a:t>
            </a:r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D3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Long-term: avoid fasting &gt; 8 hours, treat illness aggressively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7726680" y="4160520"/>
            <a:ext cx="1005840" cy="777240"/>
          </a:xfrm>
          <a:prstGeom prst="rect">
            <a:avLst/>
          </a:prstGeom>
          <a:ln w="12700">
            <a:solidFill>
              <a:srgbClr val="4D5F82"/>
            </a:solidFill>
            <a:prstDash val="dash"/>
          </a:ln>
        </p:spPr>
      </p:sp>
      <p:sp>
        <p:nvSpPr>
          <p:cNvPr id="14" name="Text 11"/>
          <p:cNvSpPr/>
          <p:nvPr/>
        </p:nvSpPr>
        <p:spPr>
          <a:xfrm>
            <a:off x="7726680" y="416052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D5F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Face cam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85800" y="4663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D5F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studyrare.com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28016" cy="128016"/>
          </a:xfrm>
          <a:prstGeom prst="ellipse">
            <a:avLst/>
          </a:prstGeom>
          <a:solidFill>
            <a:srgbClr val="8893E5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" y="594360"/>
            <a:ext cx="201168" cy="201168"/>
          </a:xfrm>
          <a:prstGeom prst="ellipse">
            <a:avLst/>
          </a:prstGeom>
          <a:solidFill>
            <a:srgbClr val="8893E5"/>
          </a:solidFill>
          <a:ln/>
        </p:spPr>
      </p:sp>
      <p:sp>
        <p:nvSpPr>
          <p:cNvPr id="4" name="Shape 2"/>
          <p:cNvSpPr/>
          <p:nvPr/>
        </p:nvSpPr>
        <p:spPr>
          <a:xfrm>
            <a:off x="1920240" y="274320"/>
            <a:ext cx="146304" cy="146304"/>
          </a:xfrm>
          <a:prstGeom prst="ellipse">
            <a:avLst/>
          </a:prstGeom>
          <a:solidFill>
            <a:srgbClr val="8893E5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0" y="777240"/>
            <a:ext cx="237744" cy="237744"/>
          </a:xfrm>
          <a:prstGeom prst="ellipse">
            <a:avLst/>
          </a:prstGeom>
          <a:solidFill>
            <a:srgbClr val="8893E5"/>
          </a:solidFill>
          <a:ln/>
        </p:spPr>
      </p:sp>
      <p:sp>
        <p:nvSpPr>
          <p:cNvPr id="6" name="Shape 4"/>
          <p:cNvSpPr/>
          <p:nvPr/>
        </p:nvSpPr>
        <p:spPr>
          <a:xfrm>
            <a:off x="3840480" y="411480"/>
            <a:ext cx="128016" cy="128016"/>
          </a:xfrm>
          <a:prstGeom prst="ellipse">
            <a:avLst/>
          </a:prstGeom>
          <a:solidFill>
            <a:srgbClr val="8893E5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0" y="731520"/>
            <a:ext cx="256032" cy="256032"/>
          </a:xfrm>
          <a:prstGeom prst="ellipse">
            <a:avLst/>
          </a:prstGeom>
          <a:solidFill>
            <a:srgbClr val="8893E5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0" y="274320"/>
            <a:ext cx="164592" cy="164592"/>
          </a:xfrm>
          <a:prstGeom prst="ellipse">
            <a:avLst/>
          </a:prstGeom>
          <a:solidFill>
            <a:srgbClr val="8893E5"/>
          </a:solidFill>
          <a:ln/>
        </p:spPr>
      </p:sp>
      <p:sp>
        <p:nvSpPr>
          <p:cNvPr id="9" name="Shape 7"/>
          <p:cNvSpPr/>
          <p:nvPr/>
        </p:nvSpPr>
        <p:spPr>
          <a:xfrm>
            <a:off x="7223760" y="777240"/>
            <a:ext cx="109728" cy="109728"/>
          </a:xfrm>
          <a:prstGeom prst="ellipse">
            <a:avLst/>
          </a:prstGeom>
          <a:solidFill>
            <a:srgbClr val="8893E5"/>
          </a:solidFill>
          <a:ln/>
        </p:spPr>
      </p:sp>
      <p:sp>
        <p:nvSpPr>
          <p:cNvPr id="10" name="Shape 8"/>
          <p:cNvSpPr/>
          <p:nvPr/>
        </p:nvSpPr>
        <p:spPr>
          <a:xfrm>
            <a:off x="8001000" y="365760"/>
            <a:ext cx="237744" cy="237744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4343400"/>
            <a:ext cx="164592" cy="164592"/>
          </a:xfrm>
          <a:prstGeom prst="ellipse">
            <a:avLst/>
          </a:prstGeom>
          <a:solidFill>
            <a:srgbClr val="8893E5"/>
          </a:solidFill>
          <a:ln/>
        </p:spPr>
      </p:sp>
      <p:sp>
        <p:nvSpPr>
          <p:cNvPr id="12" name="Shape 10"/>
          <p:cNvSpPr/>
          <p:nvPr/>
        </p:nvSpPr>
        <p:spPr>
          <a:xfrm>
            <a:off x="2240280" y="4572000"/>
            <a:ext cx="128016" cy="128016"/>
          </a:xfrm>
          <a:prstGeom prst="ellipse">
            <a:avLst/>
          </a:prstGeom>
          <a:solidFill>
            <a:srgbClr val="8893E5"/>
          </a:solidFill>
          <a:ln/>
        </p:spPr>
      </p:sp>
      <p:sp>
        <p:nvSpPr>
          <p:cNvPr id="13" name="Shape 11"/>
          <p:cNvSpPr/>
          <p:nvPr/>
        </p:nvSpPr>
        <p:spPr>
          <a:xfrm>
            <a:off x="3703320" y="4434840"/>
            <a:ext cx="201168" cy="201168"/>
          </a:xfrm>
          <a:prstGeom prst="ellipse">
            <a:avLst/>
          </a:prstGeom>
          <a:solidFill>
            <a:srgbClr val="8893E5"/>
          </a:solidFill>
          <a:ln/>
        </p:spPr>
      </p:sp>
      <p:sp>
        <p:nvSpPr>
          <p:cNvPr id="14" name="Shape 12"/>
          <p:cNvSpPr/>
          <p:nvPr/>
        </p:nvSpPr>
        <p:spPr>
          <a:xfrm>
            <a:off x="5440680" y="4617720"/>
            <a:ext cx="146304" cy="146304"/>
          </a:xfrm>
          <a:prstGeom prst="ellipse">
            <a:avLst/>
          </a:prstGeom>
          <a:solidFill>
            <a:srgbClr val="8893E5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0" y="4389120"/>
            <a:ext cx="164592" cy="164592"/>
          </a:xfrm>
          <a:prstGeom prst="ellipse">
            <a:avLst/>
          </a:prstGeom>
          <a:solidFill>
            <a:srgbClr val="8893E5"/>
          </a:solidFill>
          <a:ln/>
        </p:spPr>
      </p:sp>
      <p:sp>
        <p:nvSpPr>
          <p:cNvPr id="16" name="Shape 14"/>
          <p:cNvSpPr/>
          <p:nvPr/>
        </p:nvSpPr>
        <p:spPr>
          <a:xfrm>
            <a:off x="8321040" y="4572000"/>
            <a:ext cx="128016" cy="128016"/>
          </a:xfrm>
          <a:prstGeom prst="ellipse">
            <a:avLst/>
          </a:prstGeom>
          <a:solidFill>
            <a:srgbClr val="8893E5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17830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rgbClr val="8893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21488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8A83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Fatty acid metabolism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685800" y="2926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Carnitine shuttle, beta-oxidation, and the disorders that interrupt them.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" y="4617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StudyRare</a:t>
            </a:r>
            <a:endParaRPr lang="en-US" sz="1200" dirty="0"/>
          </a:p>
        </p:txBody>
      </p:sp>
      <p:pic>
        <p:nvPicPr>
          <p:cNvPr id="21" name="Image 0" descr="/home/claude/studyrare-brand/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425196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D490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188720"/>
            <a:ext cx="7772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A2035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Any infant with </a:t>
            </a:r>
            <a:pPr algn="l" indent="0" marL="0">
              <a:buNone/>
            </a:pPr>
            <a:r>
              <a:rPr lang="en-US" sz="3000" b="1" dirty="0">
                <a:solidFill>
                  <a:srgbClr val="D4901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hypoketotic hypoglycemia</a:t>
            </a:r>
            <a:pPr algn="l" indent="0" marL="0">
              <a:buNone/>
            </a:pPr>
            <a:r>
              <a:rPr lang="en-US" sz="3000" dirty="0">
                <a:solidFill>
                  <a:srgbClr val="1A2035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after a fasting stressor is MCAD deficiency until proven otherwise.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4617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4D5F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Workbook chapter 5.G · page 95</a:t>
            </a:r>
            <a:endParaRPr lang="en-US" sz="1100" dirty="0"/>
          </a:p>
        </p:txBody>
      </p:sp>
      <p:pic>
        <p:nvPicPr>
          <p:cNvPr id="5" name="Image 0" descr="/home/claude/studyrare-brand/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425196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28016" cy="128016"/>
          </a:xfrm>
          <a:prstGeom prst="ellipse">
            <a:avLst/>
          </a:prstGeom>
          <a:solidFill>
            <a:srgbClr val="8893E5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" y="594360"/>
            <a:ext cx="201168" cy="201168"/>
          </a:xfrm>
          <a:prstGeom prst="ellipse">
            <a:avLst/>
          </a:prstGeom>
          <a:solidFill>
            <a:srgbClr val="8893E5"/>
          </a:solidFill>
          <a:ln/>
        </p:spPr>
      </p:sp>
      <p:sp>
        <p:nvSpPr>
          <p:cNvPr id="4" name="Shape 2"/>
          <p:cNvSpPr/>
          <p:nvPr/>
        </p:nvSpPr>
        <p:spPr>
          <a:xfrm>
            <a:off x="1920240" y="274320"/>
            <a:ext cx="146304" cy="146304"/>
          </a:xfrm>
          <a:prstGeom prst="ellipse">
            <a:avLst/>
          </a:prstGeom>
          <a:solidFill>
            <a:srgbClr val="8893E5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0" y="777240"/>
            <a:ext cx="237744" cy="237744"/>
          </a:xfrm>
          <a:prstGeom prst="ellipse">
            <a:avLst/>
          </a:prstGeom>
          <a:solidFill>
            <a:srgbClr val="8893E5"/>
          </a:solidFill>
          <a:ln/>
        </p:spPr>
      </p:sp>
      <p:sp>
        <p:nvSpPr>
          <p:cNvPr id="6" name="Shape 4"/>
          <p:cNvSpPr/>
          <p:nvPr/>
        </p:nvSpPr>
        <p:spPr>
          <a:xfrm>
            <a:off x="3840480" y="411480"/>
            <a:ext cx="128016" cy="128016"/>
          </a:xfrm>
          <a:prstGeom prst="ellipse">
            <a:avLst/>
          </a:prstGeom>
          <a:solidFill>
            <a:srgbClr val="8893E5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0" y="731520"/>
            <a:ext cx="256032" cy="256032"/>
          </a:xfrm>
          <a:prstGeom prst="ellipse">
            <a:avLst/>
          </a:prstGeom>
          <a:solidFill>
            <a:srgbClr val="8893E5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0" y="274320"/>
            <a:ext cx="164592" cy="164592"/>
          </a:xfrm>
          <a:prstGeom prst="ellipse">
            <a:avLst/>
          </a:prstGeom>
          <a:solidFill>
            <a:srgbClr val="8893E5"/>
          </a:solidFill>
          <a:ln/>
        </p:spPr>
      </p:sp>
      <p:sp>
        <p:nvSpPr>
          <p:cNvPr id="9" name="Shape 7"/>
          <p:cNvSpPr/>
          <p:nvPr/>
        </p:nvSpPr>
        <p:spPr>
          <a:xfrm>
            <a:off x="7223760" y="777240"/>
            <a:ext cx="109728" cy="109728"/>
          </a:xfrm>
          <a:prstGeom prst="ellipse">
            <a:avLst/>
          </a:prstGeom>
          <a:solidFill>
            <a:srgbClr val="8893E5"/>
          </a:solidFill>
          <a:ln/>
        </p:spPr>
      </p:sp>
      <p:sp>
        <p:nvSpPr>
          <p:cNvPr id="10" name="Shape 8"/>
          <p:cNvSpPr/>
          <p:nvPr/>
        </p:nvSpPr>
        <p:spPr>
          <a:xfrm>
            <a:off x="8001000" y="365760"/>
            <a:ext cx="237744" cy="237744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4343400"/>
            <a:ext cx="164592" cy="164592"/>
          </a:xfrm>
          <a:prstGeom prst="ellipse">
            <a:avLst/>
          </a:prstGeom>
          <a:solidFill>
            <a:srgbClr val="8893E5"/>
          </a:solidFill>
          <a:ln/>
        </p:spPr>
      </p:sp>
      <p:sp>
        <p:nvSpPr>
          <p:cNvPr id="12" name="Shape 10"/>
          <p:cNvSpPr/>
          <p:nvPr/>
        </p:nvSpPr>
        <p:spPr>
          <a:xfrm>
            <a:off x="2240280" y="4572000"/>
            <a:ext cx="128016" cy="128016"/>
          </a:xfrm>
          <a:prstGeom prst="ellipse">
            <a:avLst/>
          </a:prstGeom>
          <a:solidFill>
            <a:srgbClr val="8893E5"/>
          </a:solidFill>
          <a:ln/>
        </p:spPr>
      </p:sp>
      <p:sp>
        <p:nvSpPr>
          <p:cNvPr id="13" name="Shape 11"/>
          <p:cNvSpPr/>
          <p:nvPr/>
        </p:nvSpPr>
        <p:spPr>
          <a:xfrm>
            <a:off x="3703320" y="4434840"/>
            <a:ext cx="201168" cy="201168"/>
          </a:xfrm>
          <a:prstGeom prst="ellipse">
            <a:avLst/>
          </a:prstGeom>
          <a:solidFill>
            <a:srgbClr val="8893E5"/>
          </a:solidFill>
          <a:ln/>
        </p:spPr>
      </p:sp>
      <p:sp>
        <p:nvSpPr>
          <p:cNvPr id="14" name="Shape 12"/>
          <p:cNvSpPr/>
          <p:nvPr/>
        </p:nvSpPr>
        <p:spPr>
          <a:xfrm>
            <a:off x="5440680" y="4617720"/>
            <a:ext cx="146304" cy="146304"/>
          </a:xfrm>
          <a:prstGeom prst="ellipse">
            <a:avLst/>
          </a:prstGeom>
          <a:solidFill>
            <a:srgbClr val="8893E5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0" y="4389120"/>
            <a:ext cx="164592" cy="164592"/>
          </a:xfrm>
          <a:prstGeom prst="ellipse">
            <a:avLst/>
          </a:prstGeom>
          <a:solidFill>
            <a:srgbClr val="8893E5"/>
          </a:solidFill>
          <a:ln/>
        </p:spPr>
      </p:sp>
      <p:sp>
        <p:nvSpPr>
          <p:cNvPr id="16" name="Shape 14"/>
          <p:cNvSpPr/>
          <p:nvPr/>
        </p:nvSpPr>
        <p:spPr>
          <a:xfrm>
            <a:off x="8321040" y="4572000"/>
            <a:ext cx="128016" cy="128016"/>
          </a:xfrm>
          <a:prstGeom prst="ellipse">
            <a:avLst/>
          </a:prstGeom>
          <a:solidFill>
            <a:srgbClr val="8893E5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1417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Keep going.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85800" y="2011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893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ways to deepen this topic.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" y="2606040"/>
            <a:ext cx="2606040" cy="1691640"/>
          </a:xfrm>
          <a:prstGeom prst="rect">
            <a:avLst/>
          </a:prstGeom>
          <a:solidFill>
            <a:srgbClr val="2D3555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2606040"/>
            <a:ext cx="260604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27706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Get the workbook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22960" y="31089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3CB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Foundations of Inherited Metabolic Disorders. Chapter 5 covers fatty acid oxidation in depth.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39319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studyrare.com/workbook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83280" y="2606040"/>
            <a:ext cx="2606040" cy="1691640"/>
          </a:xfrm>
          <a:prstGeom prst="rect">
            <a:avLst/>
          </a:prstGeom>
          <a:solidFill>
            <a:srgbClr val="2D3555"/>
          </a:solidFill>
          <a:ln/>
        </p:spPr>
      </p:sp>
      <p:sp>
        <p:nvSpPr>
          <p:cNvPr id="25" name="Shape 23"/>
          <p:cNvSpPr/>
          <p:nvPr/>
        </p:nvSpPr>
        <p:spPr>
          <a:xfrm>
            <a:off x="3383280" y="2606040"/>
            <a:ext cx="260604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6" name="Text 24"/>
          <p:cNvSpPr/>
          <p:nvPr/>
        </p:nvSpPr>
        <p:spPr>
          <a:xfrm>
            <a:off x="3520440" y="27706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Join the bootcamp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3520440" y="31089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3CB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ABGC Summer 2026 board review. 30 hours, board-certified instructors, live + recorded.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520440" y="39319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studyrare.com/abgc-bootcamp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80760" y="2606040"/>
            <a:ext cx="2606040" cy="1691640"/>
          </a:xfrm>
          <a:prstGeom prst="rect">
            <a:avLst/>
          </a:prstGeom>
          <a:solidFill>
            <a:srgbClr val="2D3555"/>
          </a:solidFill>
          <a:ln/>
        </p:spPr>
      </p:sp>
      <p:sp>
        <p:nvSpPr>
          <p:cNvPr id="30" name="Shape 28"/>
          <p:cNvSpPr/>
          <p:nvPr/>
        </p:nvSpPr>
        <p:spPr>
          <a:xfrm>
            <a:off x="6080760" y="2606040"/>
            <a:ext cx="260604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0" y="27706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Subscribe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6217920" y="31089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3CB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videos every week through boards season. Free.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17920" y="39319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youtube.com/@studyrare</a:t>
            </a:r>
            <a:endParaRPr lang="en-US" sz="1100" dirty="0"/>
          </a:p>
        </p:txBody>
      </p:sp>
      <p:pic>
        <p:nvPicPr>
          <p:cNvPr id="34" name="Image 0" descr="/home/claude/studyrare-brand/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457200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StudyRare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StudyRare Brand Slide Master v2.0</dc:title>
  <dc:subject>Brand reference layouts</dc:subject>
  <dc:creator>StudyRare</dc:creator>
  <cp:lastModifiedBy>StudyRare</cp:lastModifiedBy>
  <cp:revision>1</cp:revision>
  <dcterms:created xsi:type="dcterms:W3CDTF">2026-05-16T14:47:46Z</dcterms:created>
  <dcterms:modified xsi:type="dcterms:W3CDTF">2026-05-16T14:47:46Z</dcterms:modified>
</cp:coreProperties>
</file>